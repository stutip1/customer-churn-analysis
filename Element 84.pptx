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719"/>
  </p:normalViewPr>
  <p:slideViewPr>
    <p:cSldViewPr snapToGrid="0">
      <p:cViewPr>
        <p:scale>
          <a:sx n="90" d="100"/>
          <a:sy n="90" d="100"/>
        </p:scale>
        <p:origin x="1456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6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600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59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0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14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34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9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8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4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163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165034-E311-86A5-7EF0-D57062148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399" b="10930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136311-C81B-47C5-AE0A-5641A5A59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24436" y="1066800"/>
            <a:ext cx="4389120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18CCF-1D59-1A60-B63C-6736BB20A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0487" y="1562101"/>
            <a:ext cx="3551402" cy="2738530"/>
          </a:xfrm>
        </p:spPr>
        <p:txBody>
          <a:bodyPr anchor="t">
            <a:normAutofit fontScale="90000"/>
          </a:bodyPr>
          <a:lstStyle/>
          <a:p>
            <a:r>
              <a:rPr lang="en-US" sz="4800" dirty="0"/>
              <a:t>Customer Churn Analysis and Retention Strategy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30BE1-55DD-4197-2D19-25CB1B9BF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02099" y="4714076"/>
            <a:ext cx="3579790" cy="875824"/>
          </a:xfrm>
        </p:spPr>
        <p:txBody>
          <a:bodyPr>
            <a:normAutofit/>
          </a:bodyPr>
          <a:lstStyle/>
          <a:p>
            <a:r>
              <a:rPr lang="en-US" dirty="0"/>
              <a:t>Stuti PAUDEL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CC73A33-65FF-41A9-A3B0-006753CD1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324436" y="5780876"/>
            <a:ext cx="438912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052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CDB64-15F1-59C1-77A4-25DDA51F9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AF491-2380-405D-BCC9-84414DDD1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shows a churn rate of ~20%</a:t>
            </a:r>
          </a:p>
          <a:p>
            <a:r>
              <a:rPr lang="en-US" dirty="0"/>
              <a:t>Churn appears to vary across different customer segments </a:t>
            </a:r>
          </a:p>
          <a:p>
            <a:r>
              <a:rPr lang="en-US" dirty="0"/>
              <a:t>It is important to identify the drivers behind churn </a:t>
            </a:r>
          </a:p>
          <a:p>
            <a:r>
              <a:rPr lang="en-US" dirty="0"/>
              <a:t>The objective is to reduce churn and improve retention, especially among high-value customers </a:t>
            </a:r>
          </a:p>
        </p:txBody>
      </p:sp>
    </p:spTree>
    <p:extLst>
      <p:ext uri="{BB962C8B-B14F-4D97-AF65-F5344CB8AC3E}">
        <p14:creationId xmlns:p14="http://schemas.microsoft.com/office/powerpoint/2010/main" val="2847943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301D-1480-2B3F-72A2-C2A1285B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5F3C6-0FD1-41FE-E1E7-481A07B53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3737831"/>
          </a:xfrm>
        </p:spPr>
        <p:txBody>
          <a:bodyPr>
            <a:normAutofit/>
          </a:bodyPr>
          <a:lstStyle/>
          <a:p>
            <a:r>
              <a:rPr lang="en-US" dirty="0"/>
              <a:t>Dataset: Customer Churn Dataset (Kaggle) </a:t>
            </a:r>
          </a:p>
          <a:p>
            <a:r>
              <a:rPr lang="en-US" dirty="0"/>
              <a:t>Total Records: ~10,000 customers </a:t>
            </a:r>
          </a:p>
          <a:p>
            <a:r>
              <a:rPr lang="en-US" dirty="0"/>
              <a:t>Features include:</a:t>
            </a:r>
          </a:p>
          <a:p>
            <a:pPr lvl="1"/>
            <a:r>
              <a:rPr lang="en-US" dirty="0"/>
              <a:t>Demographics: Age, Gender, Geography </a:t>
            </a:r>
          </a:p>
          <a:p>
            <a:pPr lvl="1"/>
            <a:r>
              <a:rPr lang="en-US" dirty="0"/>
              <a:t>Financial: Balance, Estimated Salary, Credit Score </a:t>
            </a:r>
          </a:p>
          <a:p>
            <a:pPr lvl="1"/>
            <a:r>
              <a:rPr lang="en-US" dirty="0"/>
              <a:t>Relationship: Tenure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 Variable: </a:t>
            </a:r>
            <a:r>
              <a:rPr lang="en-US" b="1" dirty="0"/>
              <a:t>Exited (Churn)(1=Churn , 0 = Retained)</a:t>
            </a:r>
          </a:p>
          <a:p>
            <a:r>
              <a:rPr lang="en-US" dirty="0"/>
              <a:t>Goal: Understand which factors influence customer churn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16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FB55-3DFF-BCFC-DDAA-04800B37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281C-DF30-C13A-6E83-FB000A340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missing values across all features </a:t>
            </a:r>
          </a:p>
          <a:p>
            <a:r>
              <a:rPr lang="en-US" dirty="0"/>
              <a:t>Verified correct data types (numeric and categorical ) </a:t>
            </a:r>
          </a:p>
          <a:p>
            <a:pPr marL="0" indent="0">
              <a:buNone/>
            </a:pPr>
            <a:r>
              <a:rPr lang="en-US" dirty="0"/>
              <a:t>Assumptions</a:t>
            </a:r>
          </a:p>
          <a:p>
            <a:r>
              <a:rPr lang="en-US" dirty="0"/>
              <a:t>“Exited” correctly represents customer churn</a:t>
            </a:r>
          </a:p>
          <a:p>
            <a:r>
              <a:rPr lang="en-US" dirty="0"/>
              <a:t>Balance used as proxy for customer value</a:t>
            </a:r>
          </a:p>
          <a:p>
            <a:r>
              <a:rPr lang="en-US" dirty="0"/>
              <a:t>Dataset assumed representative of overall customers</a:t>
            </a:r>
          </a:p>
        </p:txBody>
      </p:sp>
    </p:spTree>
    <p:extLst>
      <p:ext uri="{BB962C8B-B14F-4D97-AF65-F5344CB8AC3E}">
        <p14:creationId xmlns:p14="http://schemas.microsoft.com/office/powerpoint/2010/main" val="1925953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FDAE-D662-ACEF-71BC-82C338B2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24544-1E7C-2F0A-2E6D-F7BF12E7D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 in 5 customers is leaving the bank (20.4% churn rate)</a:t>
            </a:r>
          </a:p>
          <a:p>
            <a:r>
              <a:rPr lang="en-US" dirty="0"/>
              <a:t>Age is the strongest predictor of churn (p = 1.24e -186)</a:t>
            </a:r>
          </a:p>
          <a:p>
            <a:r>
              <a:rPr lang="en-US" dirty="0"/>
              <a:t>Germany churns at 32% - nearly double France (16%) and Spain (17%)</a:t>
            </a:r>
          </a:p>
          <a:p>
            <a:r>
              <a:rPr lang="en-US" dirty="0"/>
              <a:t>Women churn at 25% vs men at 16.5% - 1.5x gap</a:t>
            </a:r>
          </a:p>
          <a:p>
            <a:r>
              <a:rPr lang="en-US" dirty="0"/>
              <a:t>Churned customers are 7 years older on average (44.8 vs 37.4 years)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67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CE794-1B01-5CDE-9AEB-6BAC7032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Findings II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009C9-C7A4-B26A-D2CE-73F06C9F1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Customers with low credit scores show highest churn (-32%)</a:t>
            </a:r>
          </a:p>
          <a:p>
            <a:r>
              <a:rPr lang="en-US" dirty="0"/>
              <a:t>Churn decreases as credit score increases</a:t>
            </a:r>
          </a:p>
          <a:p>
            <a:r>
              <a:rPr lang="en-US" dirty="0"/>
              <a:t>2037 customers churned </a:t>
            </a:r>
          </a:p>
          <a:p>
            <a:r>
              <a:rPr lang="en-US" dirty="0"/>
              <a:t>Estimated annual revenue loss – 3.7 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72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8D84-4F35-766E-A9E6-D351B49D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risk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B39A6-495D-5D6B-D2C2-76AC0D2E4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Germany has the highest churn across all regions ( approx. 32)</a:t>
            </a:r>
          </a:p>
          <a:p>
            <a:r>
              <a:rPr lang="en-US" dirty="0"/>
              <a:t>Female customers consistently show higher churn across all countries </a:t>
            </a:r>
          </a:p>
          <a:p>
            <a:r>
              <a:rPr lang="en-US" dirty="0"/>
              <a:t>Germany + Female segment has the highest churn ( approx. 37.5)</a:t>
            </a:r>
          </a:p>
          <a:p>
            <a:r>
              <a:rPr lang="en-US" dirty="0"/>
              <a:t>Customers who are based in Germany ,Female and age &gt; 40 show 57% churn rate.</a:t>
            </a:r>
          </a:p>
        </p:txBody>
      </p:sp>
    </p:spTree>
    <p:extLst>
      <p:ext uri="{BB962C8B-B14F-4D97-AF65-F5344CB8AC3E}">
        <p14:creationId xmlns:p14="http://schemas.microsoft.com/office/powerpoint/2010/main" val="36023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BCF0-6C05-E10E-7551-853EB9DC9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081F-9D9D-DC5D-ADF1-E248310FD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Built a Logistic regression model to predict churn</a:t>
            </a:r>
          </a:p>
          <a:p>
            <a:pPr lvl="1"/>
            <a:r>
              <a:rPr lang="en-US" dirty="0"/>
              <a:t>Used features: Credit Score , Age , Tenure , Balance , Estimated Salary</a:t>
            </a:r>
          </a:p>
          <a:p>
            <a:pPr lvl="1"/>
            <a:r>
              <a:rPr lang="en-US" dirty="0"/>
              <a:t>Applied feature scaling for better model performance </a:t>
            </a:r>
          </a:p>
          <a:p>
            <a:r>
              <a:rPr lang="en-US" dirty="0"/>
              <a:t>Model Performance</a:t>
            </a:r>
          </a:p>
          <a:p>
            <a:r>
              <a:rPr lang="en-US" dirty="0"/>
              <a:t>Recall (churn ) 64% -&gt; Captures majority of churners</a:t>
            </a:r>
          </a:p>
          <a:p>
            <a:r>
              <a:rPr lang="en-US" dirty="0"/>
              <a:t>Precision 37% -&gt; some false positives</a:t>
            </a:r>
          </a:p>
          <a:p>
            <a:r>
              <a:rPr lang="en-US" dirty="0"/>
              <a:t>F1 Score 0.47 - &gt; moderate overall performance </a:t>
            </a:r>
          </a:p>
          <a:p>
            <a:r>
              <a:rPr lang="en-US" dirty="0"/>
              <a:t>Also engineered new features</a:t>
            </a:r>
          </a:p>
          <a:p>
            <a:pPr lvl="1"/>
            <a:r>
              <a:rPr lang="en-US" dirty="0"/>
              <a:t>Balance – to-salary ratio</a:t>
            </a:r>
          </a:p>
          <a:p>
            <a:pPr lvl="1"/>
            <a:r>
              <a:rPr lang="en-US" dirty="0"/>
              <a:t>Age * Tenure engagement score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347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8803-395C-0E10-C3A6-881045984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0C1AF-DAA2-98CB-C720-4D1F36726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Churn among higher – balance customers – disproportionate financial impact</a:t>
            </a:r>
          </a:p>
          <a:p>
            <a:r>
              <a:rPr lang="en-US" dirty="0"/>
              <a:t>High churn concentration in specific regions -&gt; localized revenue leakage </a:t>
            </a:r>
          </a:p>
          <a:p>
            <a:r>
              <a:rPr lang="en-US" dirty="0"/>
              <a:t>Estimated annual revenue lost : $3,711,762</a:t>
            </a:r>
          </a:p>
        </p:txBody>
      </p:sp>
    </p:spTree>
    <p:extLst>
      <p:ext uri="{BB962C8B-B14F-4D97-AF65-F5344CB8AC3E}">
        <p14:creationId xmlns:p14="http://schemas.microsoft.com/office/powerpoint/2010/main" val="143842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1DFF-0A0C-B4D5-439D-4D8D210E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Retention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6F720-0952-36F7-9587-50669243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German women over 40 with a dedicated retention program immediately</a:t>
            </a:r>
          </a:p>
          <a:p>
            <a:r>
              <a:rPr lang="en-US" dirty="0"/>
              <a:t>Investigate why Germany churn 2x more – product gap , competitor , or service issue </a:t>
            </a:r>
          </a:p>
          <a:p>
            <a:r>
              <a:rPr lang="en-US" dirty="0"/>
              <a:t>Build an early warning system using the model to flag at risk customers before they leave</a:t>
            </a:r>
          </a:p>
          <a:p>
            <a:r>
              <a:rPr lang="en-US" dirty="0"/>
              <a:t>Focus retention spend on high –balance customers , they cost the most when lost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808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57E5D-B32C-C8AD-C831-3BBA8418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would do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27557-D859-8595-82BA-8456393EB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more features: (transactions ,activity)</a:t>
            </a:r>
          </a:p>
          <a:p>
            <a:r>
              <a:rPr lang="en-US" dirty="0"/>
              <a:t>Address higher churn in female segment</a:t>
            </a:r>
          </a:p>
          <a:p>
            <a:r>
              <a:rPr lang="en-US" dirty="0"/>
              <a:t>Investigate high churn in Germany </a:t>
            </a:r>
          </a:p>
          <a:p>
            <a:pPr lvl="1"/>
            <a:r>
              <a:rPr lang="en-US" dirty="0"/>
              <a:t>Customer support experience</a:t>
            </a:r>
          </a:p>
          <a:p>
            <a:pPr lvl="1"/>
            <a:r>
              <a:rPr lang="en-US" dirty="0"/>
              <a:t>Pricing /fees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90047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1892</TotalTime>
  <Words>505</Words>
  <Application>Microsoft Macintosh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Grandview Display</vt:lpstr>
      <vt:lpstr>DashVTI</vt:lpstr>
      <vt:lpstr>Customer Churn Analysis and Retention Strategy</vt:lpstr>
      <vt:lpstr>Problem Statement</vt:lpstr>
      <vt:lpstr>Dataset Overview</vt:lpstr>
      <vt:lpstr>Data cleaning and assumptions</vt:lpstr>
      <vt:lpstr>Key Findings I</vt:lpstr>
      <vt:lpstr>Key Findings II </vt:lpstr>
      <vt:lpstr>High risk segment</vt:lpstr>
      <vt:lpstr>Predicting customer churn</vt:lpstr>
      <vt:lpstr>Business impact</vt:lpstr>
      <vt:lpstr>Retention Strategy</vt:lpstr>
      <vt:lpstr>What I would do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Paudel, Stuti</dc:creator>
  <cp:lastModifiedBy>Paudel, Stuti</cp:lastModifiedBy>
  <cp:revision>1</cp:revision>
  <dcterms:created xsi:type="dcterms:W3CDTF">2026-04-06T17:35:01Z</dcterms:created>
  <dcterms:modified xsi:type="dcterms:W3CDTF">2026-04-08T01:07:11Z</dcterms:modified>
</cp:coreProperties>
</file>